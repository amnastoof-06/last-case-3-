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2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8640" y="4434840"/>
            <a:ext cx="1920240" cy="73152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4617720"/>
            <a:ext cx="1097280" cy="73152"/>
          </a:xfrm>
          <a:prstGeom prst="rect">
            <a:avLst/>
          </a:prstGeom>
          <a:solidFill>
            <a:srgbClr val="43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4800600"/>
            <a:ext cx="1554480" cy="73152"/>
          </a:xfrm>
          <a:prstGeom prst="rect">
            <a:avLst/>
          </a:prstGeom>
          <a:solidFill>
            <a:srgbClr val="40C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0241280" cy="685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000" b="1">
                <a:solidFill>
                  <a:srgbClr val="FAFCFF"/>
                </a:solidFill>
                <a:latin typeface="Aptos"/>
              </a:rPr>
              <a:t>Weather Monitoring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57400"/>
            <a:ext cx="84124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>
                <a:solidFill>
                  <a:srgbClr val="43D7D9"/>
                </a:solidFill>
                <a:latin typeface="Aptos"/>
              </a:rPr>
              <a:t>Observer Design Pattern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804672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0">
                <a:solidFill>
                  <a:srgbClr val="D5DEEB"/>
                </a:solidFill>
                <a:latin typeface="Aptos"/>
              </a:rPr>
              <a:t>A real-time weather station that broadcasts temperature and humidity updates to multiple displays.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703320"/>
            <a:ext cx="2514600" cy="347472"/>
          </a:xfrm>
          <a:prstGeom prst="round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749039"/>
            <a:ext cx="251460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Java • UML • Design Pattern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Presentation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How the project will be explained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347472"/>
          </a:xfrm>
          <a:prstGeom prst="round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463040"/>
            <a:ext cx="502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44752" y="1389888"/>
            <a:ext cx="2743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1">
                <a:solidFill>
                  <a:srgbClr val="FAFCFF"/>
                </a:solidFill>
                <a:latin typeface="Aptos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1408176"/>
            <a:ext cx="66751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D5DEEB"/>
                </a:solidFill>
                <a:latin typeface="Aptos"/>
              </a:rPr>
              <a:t>Why direct communication creates tight coupling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212848"/>
            <a:ext cx="502920" cy="347472"/>
          </a:xfrm>
          <a:prstGeom prst="round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258568"/>
            <a:ext cx="502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4752" y="2185416"/>
            <a:ext cx="2743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1">
                <a:solidFill>
                  <a:srgbClr val="FAFCFF"/>
                </a:solidFill>
                <a:latin typeface="Aptos"/>
              </a:rPr>
              <a:t>Pattern Choice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203704"/>
            <a:ext cx="66751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D5DEEB"/>
                </a:solidFill>
                <a:latin typeface="Aptos"/>
              </a:rPr>
              <a:t>Why Observer is the best fit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008376"/>
            <a:ext cx="502920" cy="347472"/>
          </a:xfrm>
          <a:prstGeom prst="round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054096"/>
            <a:ext cx="502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4752" y="2980944"/>
            <a:ext cx="2743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1">
                <a:solidFill>
                  <a:srgbClr val="FAFCFF"/>
                </a:solidFill>
                <a:latin typeface="Aptos"/>
              </a:rPr>
              <a:t>UML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999232"/>
            <a:ext cx="66751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D5DEEB"/>
                </a:solidFill>
                <a:latin typeface="Aptos"/>
              </a:rPr>
              <a:t>How the classes and interfaces connect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3803904"/>
            <a:ext cx="502920" cy="347472"/>
          </a:xfrm>
          <a:prstGeom prst="round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3849624"/>
            <a:ext cx="502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4752" y="3776472"/>
            <a:ext cx="2743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1">
                <a:solidFill>
                  <a:srgbClr val="FAFCFF"/>
                </a:solidFill>
                <a:latin typeface="Aptos"/>
              </a:rPr>
              <a:t>Code Walkthrough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3794760"/>
            <a:ext cx="66751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D5DEEB"/>
                </a:solidFill>
                <a:latin typeface="Aptos"/>
              </a:rPr>
              <a:t>Each class explained on its own slide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599432"/>
            <a:ext cx="502920" cy="347472"/>
          </a:xfrm>
          <a:prstGeom prst="round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645152"/>
            <a:ext cx="502920" cy="31089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44752" y="4572000"/>
            <a:ext cx="274320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700" b="1">
                <a:solidFill>
                  <a:srgbClr val="FAFCFF"/>
                </a:solidFill>
                <a:latin typeface="Aptos"/>
              </a:rPr>
              <a:t>Evaluation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590288"/>
            <a:ext cx="6675120" cy="25603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300" b="0">
                <a:solidFill>
                  <a:srgbClr val="D5DEEB"/>
                </a:solidFill>
                <a:latin typeface="Aptos"/>
              </a:rPr>
              <a:t>Benefits, trade-offs, and conclusion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02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Project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Weather Station with multiple display screens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166360" cy="141732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417320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4846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Main 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84248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The WeatherStation stores weather measurements such as temperature and humidity. When these values change, all subscribed displays receive the update automatically.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5166360" cy="141732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417320"/>
            <a:ext cx="73152" cy="1417320"/>
          </a:xfrm>
          <a:prstGeom prst="rect">
            <a:avLst/>
          </a:prstGeom>
          <a:solidFill>
            <a:srgbClr val="43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83680" y="1581912"/>
            <a:ext cx="4846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Real System Behaviour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84248"/>
            <a:ext cx="475488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PhoneDisplay shows temperature and humidity, while TVDisplay only shows temperature. Both displays react to the same update from one central source.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5840" y="3794760"/>
            <a:ext cx="1828800" cy="685800"/>
          </a:xfrm>
          <a:prstGeom prst="roundRect">
            <a:avLst/>
          </a:prstGeom>
          <a:solidFill>
            <a:srgbClr val="00B0AA"/>
          </a:solidFill>
          <a:ln>
            <a:solidFill>
              <a:srgbClr val="43D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4005072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WeatherStation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880360" y="4133087"/>
            <a:ext cx="914400" cy="0"/>
          </a:xfrm>
          <a:prstGeom prst="line">
            <a:avLst/>
          </a:prstGeom>
          <a:ln w="25400">
            <a:solidFill>
              <a:srgbClr val="43D7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840480" y="3794760"/>
            <a:ext cx="1828800" cy="685800"/>
          </a:xfrm>
          <a:prstGeom prst="roundRect">
            <a:avLst/>
          </a:prstGeom>
          <a:solidFill>
            <a:srgbClr val="00B0AA"/>
          </a:solidFill>
          <a:ln>
            <a:solidFill>
              <a:srgbClr val="43D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40480" y="4005072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FAFCFF"/>
                </a:solidFill>
                <a:latin typeface="Aptos"/>
              </a:rPr>
              <a:t>notifyObservers()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715000" y="4133087"/>
            <a:ext cx="1005840" cy="0"/>
          </a:xfrm>
          <a:prstGeom prst="line">
            <a:avLst/>
          </a:prstGeom>
          <a:ln w="25400">
            <a:solidFill>
              <a:srgbClr val="43D7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766560" y="3794760"/>
            <a:ext cx="1828800" cy="685800"/>
          </a:xfrm>
          <a:prstGeom prst="roundRect">
            <a:avLst/>
          </a:prstGeom>
          <a:solidFill>
            <a:srgbClr val="EFF5FA"/>
          </a:solidFill>
          <a:ln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766560" y="4005072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E1C2F"/>
                </a:solidFill>
                <a:latin typeface="Aptos"/>
              </a:rPr>
              <a:t>PhoneDisplay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641080" y="4133087"/>
            <a:ext cx="457200" cy="0"/>
          </a:xfrm>
          <a:prstGeom prst="line">
            <a:avLst/>
          </a:prstGeom>
          <a:ln w="25400">
            <a:solidFill>
              <a:srgbClr val="43D7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144000" y="3794760"/>
            <a:ext cx="1828800" cy="685800"/>
          </a:xfrm>
          <a:prstGeom prst="roundRect">
            <a:avLst/>
          </a:prstGeom>
          <a:solidFill>
            <a:srgbClr val="EFF5FA"/>
          </a:solidFill>
          <a:ln>
            <a:solidFill>
              <a:srgbClr val="AFBE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4005072"/>
            <a:ext cx="18288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200" b="1">
                <a:solidFill>
                  <a:srgbClr val="0E1C2F"/>
                </a:solidFill>
                <a:latin typeface="Aptos"/>
              </a:rPr>
              <a:t>TVDisplay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Problem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What the project is solving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337560" cy="21488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73152" cy="2148840"/>
          </a:xfrm>
          <a:prstGeom prst="rect">
            <a:avLst/>
          </a:prstGeom>
          <a:solidFill>
            <a:srgbClr val="F26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73351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Tight Coupling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75688"/>
            <a:ext cx="292607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Without the pattern, the station would need to know each display type and call each one directly.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08760"/>
            <a:ext cx="3337560" cy="21488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508760"/>
            <a:ext cx="73152" cy="214884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09160" y="1673351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State Synchronization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075688"/>
            <a:ext cx="292607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All displays must stay updated immediately whenever weather data changes.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508760"/>
            <a:ext cx="3337560" cy="214884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508760"/>
            <a:ext cx="73152" cy="2148840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03920" y="1673351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Extensibility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75688"/>
            <a:ext cx="2926079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Adding a new display should not require changing the core WeatherStation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40"/>
            <a:ext cx="996696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900" b="1">
                <a:solidFill>
                  <a:srgbClr val="43D7D9"/>
                </a:solidFill>
                <a:latin typeface="Aptos"/>
              </a:rPr>
              <a:t>Key idea: the data source should broadcast changes without depending on the internal details of every display.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04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Observer Pattern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One subject notifies many observers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2286000" cy="822960"/>
          </a:xfrm>
          <a:prstGeom prst="roundRect">
            <a:avLst/>
          </a:prstGeom>
          <a:solidFill>
            <a:srgbClr val="00B0AA"/>
          </a:solidFill>
          <a:ln>
            <a:solidFill>
              <a:srgbClr val="43D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907792"/>
            <a:ext cx="228600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FAFCFF"/>
                </a:solidFill>
                <a:latin typeface="Aptos"/>
              </a:rPr>
              <a:t>Subject</a:t>
            </a:r>
            <a:br/>
            <a:r>
              <a:t>WeatherStation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37760" y="1417320"/>
            <a:ext cx="2377440" cy="731520"/>
          </a:xfrm>
          <a:prstGeom prst="roundRect">
            <a:avLst/>
          </a:prstGeom>
          <a:solidFill>
            <a:srgbClr val="ECF8FA"/>
          </a:solidFill>
          <a:ln>
            <a:solidFill>
              <a:srgbClr val="43D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37760" y="1581912"/>
            <a:ext cx="23774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1C2F"/>
                </a:solidFill>
                <a:latin typeface="Aptos"/>
              </a:rPr>
              <a:t>Observer</a:t>
            </a:r>
            <a:br/>
            <a:r>
              <a:t>PhoneDisplay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3977639"/>
            <a:ext cx="2377440" cy="731520"/>
          </a:xfrm>
          <a:prstGeom prst="roundRect">
            <a:avLst/>
          </a:prstGeom>
          <a:solidFill>
            <a:srgbClr val="ECF8FA"/>
          </a:solidFill>
          <a:ln>
            <a:solidFill>
              <a:srgbClr val="43D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37760" y="4142231"/>
            <a:ext cx="237744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1C2F"/>
                </a:solidFill>
                <a:latin typeface="Aptos"/>
              </a:rPr>
              <a:t>Observer</a:t>
            </a:r>
            <a:br/>
            <a:r>
              <a:t>TVDisplay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697480"/>
            <a:ext cx="2103120" cy="822960"/>
          </a:xfrm>
          <a:prstGeom prst="roundRect">
            <a:avLst/>
          </a:prstGeom>
          <a:solidFill>
            <a:srgbClr val="ECF8FA"/>
          </a:solidFill>
          <a:ln>
            <a:solidFill>
              <a:srgbClr val="43D7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0" y="2862072"/>
            <a:ext cx="210312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300" b="1">
                <a:solidFill>
                  <a:srgbClr val="0E1C2F"/>
                </a:solidFill>
                <a:latin typeface="Aptos"/>
              </a:rPr>
              <a:t>New Display</a:t>
            </a:r>
            <a:br/>
            <a:r>
              <a:t>can be added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3154680" y="1783080"/>
            <a:ext cx="1737360" cy="1371600"/>
          </a:xfrm>
          <a:prstGeom prst="line">
            <a:avLst/>
          </a:prstGeom>
          <a:ln w="25400">
            <a:solidFill>
              <a:srgbClr val="43D7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154680" y="3154680"/>
            <a:ext cx="1737360" cy="1188720"/>
          </a:xfrm>
          <a:prstGeom prst="line">
            <a:avLst/>
          </a:prstGeom>
          <a:ln w="25400">
            <a:solidFill>
              <a:srgbClr val="43D7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06640" y="1783080"/>
            <a:ext cx="1417320" cy="1325880"/>
          </a:xfrm>
          <a:prstGeom prst="line">
            <a:avLst/>
          </a:prstGeom>
          <a:ln w="25400">
            <a:solidFill>
              <a:srgbClr val="43D7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406640" y="3108960"/>
            <a:ext cx="1417320" cy="1234440"/>
          </a:xfrm>
          <a:prstGeom prst="line">
            <a:avLst/>
          </a:prstGeom>
          <a:ln w="25400">
            <a:solidFill>
              <a:srgbClr val="43D7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2960" y="5074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D5DEEB"/>
                </a:solidFill>
                <a:latin typeface="Aptos"/>
              </a:defRPr>
            </a:pPr>
            <a:r>
              <a:t>• Subject keeps a list of observers.</a:t>
            </a:r>
          </a:p>
          <a:p>
            <a:pPr>
              <a:spcAft>
                <a:spcPts val="900"/>
              </a:spcAft>
              <a:defRPr sz="1400">
                <a:solidFill>
                  <a:srgbClr val="D5DEEB"/>
                </a:solidFill>
                <a:latin typeface="Aptos"/>
              </a:defRPr>
            </a:pPr>
            <a:r>
              <a:t>• Observers register or remove themselves.</a:t>
            </a:r>
          </a:p>
          <a:p>
            <a:pPr>
              <a:spcAft>
                <a:spcPts val="900"/>
              </a:spcAft>
              <a:defRPr sz="1400">
                <a:solidFill>
                  <a:srgbClr val="D5DEEB"/>
                </a:solidFill>
                <a:latin typeface="Aptos"/>
              </a:defRPr>
            </a:pPr>
            <a:r>
              <a:t>• When data changes, notifyObservers() calls update() on each observer.</a:t>
            </a:r>
          </a:p>
          <a:p>
            <a:pPr>
              <a:spcAft>
                <a:spcPts val="900"/>
              </a:spcAft>
              <a:defRPr sz="1400">
                <a:solidFill>
                  <a:srgbClr val="D5DEEB"/>
                </a:solidFill>
                <a:latin typeface="Aptos"/>
              </a:defRPr>
            </a:pPr>
            <a:r>
              <a:t>• Each observer decides how to display the received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05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Why Observer Pattern?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Justification for the pattern selection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141732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417320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Automatic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Displays update instantly when </a:t>
            </a:r>
            <a:r>
              <a:rPr sz="1200" dirty="0" err="1"/>
              <a:t>setMeasurements</a:t>
            </a:r>
            <a:r>
              <a:rPr sz="1200" dirty="0"/>
              <a:t>() changes the weather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074920" cy="141732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73152" cy="1417320"/>
          </a:xfrm>
          <a:prstGeom prst="rect">
            <a:avLst/>
          </a:prstGeom>
          <a:solidFill>
            <a:srgbClr val="43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581912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Loose Coupling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84248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200" dirty="0" err="1"/>
              <a:t>WeatherStation</a:t>
            </a:r>
            <a:r>
              <a:rPr sz="1200" dirty="0"/>
              <a:t> only uses the Observer interface, not the internal code of each display.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91839"/>
            <a:ext cx="5074920" cy="141732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291839"/>
            <a:ext cx="73152" cy="1417320"/>
          </a:xfrm>
          <a:prstGeom prst="rect">
            <a:avLst/>
          </a:prstGeom>
          <a:solidFill>
            <a:srgbClr val="40C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456432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Easy 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58768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New displays can be added by implementing Observer, without editing </a:t>
            </a:r>
            <a:r>
              <a:rPr sz="1200" dirty="0" err="1"/>
              <a:t>WeatherStation</a:t>
            </a:r>
            <a:r>
              <a:rPr sz="1200"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91839"/>
            <a:ext cx="5074920" cy="141732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291839"/>
            <a:ext cx="73152" cy="141732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456432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Flexible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58768"/>
            <a:ext cx="46634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dirty="0"/>
              <a:t>Different </a:t>
            </a:r>
            <a:r>
              <a:rPr sz="1200" dirty="0"/>
              <a:t>screens</a:t>
            </a:r>
            <a:r>
              <a:rPr dirty="0"/>
              <a:t> can present the same data in different ways.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06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UML Component Roles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How the architecture is divided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074920" cy="1389888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17320"/>
            <a:ext cx="73152" cy="138988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81912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Subject interface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84248"/>
            <a:ext cx="4663440" cy="18466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Defines </a:t>
            </a:r>
            <a:r>
              <a:rPr sz="1200" dirty="0" err="1"/>
              <a:t>registerObserver</a:t>
            </a:r>
            <a:r>
              <a:rPr sz="1200" dirty="0"/>
              <a:t>(), </a:t>
            </a:r>
            <a:r>
              <a:rPr sz="1200" dirty="0" err="1"/>
              <a:t>removeObserver</a:t>
            </a:r>
            <a:r>
              <a:rPr sz="1200" dirty="0"/>
              <a:t>(), and </a:t>
            </a:r>
            <a:r>
              <a:rPr sz="1200" dirty="0" err="1"/>
              <a:t>notifyObservers</a:t>
            </a:r>
            <a:r>
              <a:rPr sz="1200" dirty="0"/>
              <a:t>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074920" cy="1389888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73152" cy="1389888"/>
          </a:xfrm>
          <a:prstGeom prst="rect">
            <a:avLst/>
          </a:prstGeom>
          <a:solidFill>
            <a:srgbClr val="43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581912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WeatherStation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84248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Concrete subject. Stores weather state and maintains a List&lt;Observer&gt;.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291839"/>
            <a:ext cx="5074920" cy="1389888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85800" y="3291839"/>
            <a:ext cx="73152" cy="1389888"/>
          </a:xfrm>
          <a:prstGeom prst="rect">
            <a:avLst/>
          </a:prstGeom>
          <a:solidFill>
            <a:srgbClr val="40C4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456432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Observer interface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858768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Defines update(temperature, humidity) so all displays receive updates the same way.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291839"/>
            <a:ext cx="5074920" cy="1389888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291839"/>
            <a:ext cx="73152" cy="1389888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3456432"/>
            <a:ext cx="47548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PhoneDisplay &amp; TVDisplay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858768"/>
            <a:ext cx="4663440" cy="3693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200" dirty="0"/>
              <a:t>Concrete observers. They receive data and display it according to their purpose.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08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Observer vs. Chain of Responsibility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Why Chain of Responsibility was not selected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5166360" cy="361188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3611880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81912"/>
            <a:ext cx="4846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Observer Pattern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984248"/>
            <a:ext cx="4754880" cy="68480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One subject sends the same update to all subscribed observers at the same time. This matches the weather</a:t>
            </a:r>
            <a:endParaRPr lang="ar-JO" sz="1400" dirty="0"/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 system because all displays should receive updates directly.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5166360" cy="361188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73152" cy="3611880"/>
          </a:xfrm>
          <a:prstGeom prst="rect">
            <a:avLst/>
          </a:prstGeom>
          <a:solidFill>
            <a:srgbClr val="F268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581912"/>
            <a:ext cx="4846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Chain of Responsibility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84248"/>
            <a:ext cx="4754880" cy="8617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400" dirty="0"/>
              <a:t>A request moves through a chain of handlers. Each handler decides whether to process or forward it. This does not match the project because displays should not pass data between each other.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5486400"/>
            <a:ext cx="493776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2200" b="1">
                <a:solidFill>
                  <a:srgbClr val="43D7D9"/>
                </a:solidFill>
                <a:latin typeface="Aptos"/>
              </a:rPr>
              <a:t>Best fit: Observer Pattern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09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Trade-offs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Strengths and limitations of the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6280" y="1234440"/>
            <a:ext cx="5166360" cy="42519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4251960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399032"/>
            <a:ext cx="4846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01368"/>
            <a:ext cx="4754880" cy="163121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lang="en-US" sz="1300" dirty="0"/>
              <a:t>• Loose coupling between </a:t>
            </a:r>
            <a:r>
              <a:rPr lang="en-US" sz="1300" dirty="0" err="1"/>
              <a:t>WeatherStation</a:t>
            </a:r>
            <a:r>
              <a:rPr lang="en-US" sz="1300" dirty="0"/>
              <a:t> and display classes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endParaRPr lang="en-US" sz="1300" dirty="0"/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lang="en-US" sz="1300" dirty="0"/>
              <a:t>• Natural broadcast communication through </a:t>
            </a:r>
            <a:r>
              <a:rPr lang="en-US" sz="1300" dirty="0" err="1"/>
              <a:t>notifyObservers</a:t>
            </a:r>
            <a:r>
              <a:rPr lang="en-US" sz="1300" dirty="0"/>
              <a:t>()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endParaRPr lang="en-US" sz="1300" dirty="0"/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lang="en-US" sz="1300" dirty="0"/>
              <a:t>• Supports adding new displays without modifying the subject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endParaRPr lang="en-US" sz="1300" dirty="0"/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lang="en-US" sz="1300" dirty="0"/>
              <a:t>• Fits SOLID principles such as Open/Closed Principle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234440"/>
            <a:ext cx="5166360" cy="42519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234440"/>
            <a:ext cx="73152" cy="4251960"/>
          </a:xfrm>
          <a:prstGeom prst="rect">
            <a:avLst/>
          </a:prstGeom>
          <a:solidFill>
            <a:srgbClr val="FFB3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37960" y="1399032"/>
            <a:ext cx="48463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Considerations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801368"/>
            <a:ext cx="4754880" cy="18851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300" dirty="0"/>
              <a:t>• Observers should be removed when they are no longer needed</a:t>
            </a:r>
            <a:endParaRPr lang="ar-JO" sz="1300" dirty="0"/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endParaRPr sz="1300" dirty="0"/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300" dirty="0"/>
              <a:t>• Many observers can create notification overhead</a:t>
            </a:r>
            <a:endParaRPr lang="ar-JO" sz="1300" dirty="0"/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endParaRPr sz="1300" dirty="0"/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300" dirty="0"/>
              <a:t>• One failing update() method may affect the notification process</a:t>
            </a:r>
            <a:endParaRPr lang="ar-JO" sz="1300" dirty="0"/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endParaRPr sz="1300" dirty="0"/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sz="1300" dirty="0"/>
              <a:t>• Push model may send extra data that some observers do not use</a:t>
            </a:r>
            <a:endParaRPr lang="ar-JO" sz="1300" dirty="0"/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5" name="TextBox 14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10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640080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500" b="1">
                <a:solidFill>
                  <a:srgbClr val="FAFCFF"/>
                </a:solidFill>
                <a:latin typeface="Aptos"/>
              </a:rPr>
              <a:t>UML Class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004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1100" b="0">
                <a:solidFill>
                  <a:srgbClr val="D5DEEB"/>
                </a:solidFill>
                <a:latin typeface="Aptos"/>
              </a:rPr>
              <a:t>Full diagram included as provided</a:t>
            </a:r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960120"/>
            <a:ext cx="10972800" cy="714751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731520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4200" b="1">
                <a:solidFill>
                  <a:srgbClr val="FAFCFF"/>
                </a:solidFill>
                <a:latin typeface="Aptos"/>
              </a:rPr>
              <a:t>Code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7772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2000" b="0">
                <a:solidFill>
                  <a:srgbClr val="43D7D9"/>
                </a:solidFill>
                <a:latin typeface="Aptos"/>
              </a:rPr>
              <a:t>Each interface and class is shown on its own slide.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60520"/>
            <a:ext cx="1417320" cy="320040"/>
          </a:xfrm>
          <a:prstGeom prst="round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417320" cy="2834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Subject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60320" y="4160520"/>
            <a:ext cx="1417320" cy="320040"/>
          </a:xfrm>
          <a:prstGeom prst="round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0" y="4206240"/>
            <a:ext cx="1417320" cy="2834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Observer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4160520"/>
            <a:ext cx="1417320" cy="320040"/>
          </a:xfrm>
          <a:prstGeom prst="roundRect">
            <a:avLst/>
          </a:prstGeom>
          <a:solidFill>
            <a:srgbClr val="41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4206240"/>
            <a:ext cx="1417320" cy="2834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WeatherStation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160520"/>
            <a:ext cx="1417320" cy="320040"/>
          </a:xfrm>
          <a:prstGeom prst="roundRect">
            <a:avLst/>
          </a:prstGeom>
          <a:solidFill>
            <a:srgbClr val="41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17920" y="4206240"/>
            <a:ext cx="1417320" cy="2834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PhoneDisplay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4160520"/>
            <a:ext cx="1417320" cy="320040"/>
          </a:xfrm>
          <a:prstGeom prst="roundRect">
            <a:avLst/>
          </a:prstGeom>
          <a:solidFill>
            <a:srgbClr val="41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0" y="4206240"/>
            <a:ext cx="1417320" cy="2834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TVDisplay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4160520"/>
            <a:ext cx="1417320" cy="320040"/>
          </a:xfrm>
          <a:prstGeom prst="roundRect">
            <a:avLst/>
          </a:prstGeom>
          <a:solidFill>
            <a:srgbClr val="415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75520" y="4206240"/>
            <a:ext cx="1417320" cy="28346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sz="1000" b="1">
                <a:solidFill>
                  <a:srgbClr val="FAFCFF"/>
                </a:solidFill>
                <a:latin typeface="Aptos"/>
              </a:rPr>
              <a:t>Main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11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Subject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Publisher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4263988" cy="22313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1600" dirty="0">
                <a:solidFill>
                  <a:srgbClr val="FFFFFF"/>
                </a:solidFill>
                <a:latin typeface="Consolas"/>
              </a:rPr>
              <a:t>interface Subject {</a:t>
            </a: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1600" dirty="0">
                <a:solidFill>
                  <a:srgbClr val="FFFFFF"/>
                </a:solidFill>
                <a:latin typeface="Consolas"/>
              </a:rPr>
              <a:t>    void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registerObserver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(Observer o);</a:t>
            </a: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1600" dirty="0">
                <a:solidFill>
                  <a:srgbClr val="FFFFFF"/>
                </a:solidFill>
                <a:latin typeface="Consolas"/>
              </a:rPr>
              <a:t>    void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removeObserver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(Observer o);</a:t>
            </a: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1600" dirty="0">
                <a:solidFill>
                  <a:srgbClr val="FFFFFF"/>
                </a:solidFill>
                <a:latin typeface="Consolas"/>
              </a:rPr>
              <a:t>    void </a:t>
            </a:r>
            <a:r>
              <a:rPr sz="1600" dirty="0" err="1">
                <a:solidFill>
                  <a:srgbClr val="FFFFFF"/>
                </a:solidFill>
                <a:latin typeface="Consolas"/>
              </a:rPr>
              <a:t>notifyObservers</a:t>
            </a:r>
            <a:r>
              <a:rPr sz="1600" dirty="0">
                <a:solidFill>
                  <a:srgbClr val="FFFFFF"/>
                </a:solidFill>
                <a:latin typeface="Consolas"/>
              </a:rPr>
              <a:t>();</a:t>
            </a: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1600" dirty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188720"/>
            <a:ext cx="3337560" cy="18288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75320" y="1188720"/>
            <a:ext cx="73152" cy="1828800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353312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What this class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755648"/>
            <a:ext cx="292607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This interface defines the contract for the data source. Any class that implements Subject must be able to register, remove, and notify observers.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337560"/>
            <a:ext cx="3337560" cy="19659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3337560"/>
            <a:ext cx="73152" cy="1965960"/>
          </a:xfrm>
          <a:prstGeom prst="rect">
            <a:avLst/>
          </a:prstGeom>
          <a:solidFill>
            <a:srgbClr val="43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3502152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Key points to 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904487"/>
            <a:ext cx="292607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registerObserver(): adds a display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removeObserver(): removes a display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notifyObservers(): sends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12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Observer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Subscriber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6131487" cy="218521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1700" dirty="0">
                <a:solidFill>
                  <a:srgbClr val="FFFFFF"/>
                </a:solidFill>
                <a:latin typeface="Consolas"/>
              </a:rPr>
              <a:t>interface Observer {</a:t>
            </a: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1700" dirty="0">
                <a:solidFill>
                  <a:srgbClr val="FFFFFF"/>
                </a:solidFill>
                <a:latin typeface="Consolas"/>
              </a:rPr>
              <a:t>    void update(float temperature, float humidity);</a:t>
            </a:r>
          </a:p>
          <a:p>
            <a:pPr>
              <a:spcAft>
                <a:spcPts val="0"/>
              </a:spcAft>
              <a:defRPr sz="1300">
                <a:solidFill>
                  <a:srgbClr val="FFFFFF"/>
                </a:solidFill>
                <a:latin typeface="Consolas"/>
              </a:defRPr>
            </a:pPr>
            <a:r>
              <a:rPr sz="1700" dirty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188720"/>
            <a:ext cx="3337560" cy="18288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75320" y="1188720"/>
            <a:ext cx="73152" cy="1828800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353312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What this class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755648"/>
            <a:ext cx="292607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This interface defines the update method. Every display implements this method so the WeatherStation can send updates in one standard 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337560"/>
            <a:ext cx="3337560" cy="19659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3337560"/>
            <a:ext cx="73152" cy="1965960"/>
          </a:xfrm>
          <a:prstGeom prst="rect">
            <a:avLst/>
          </a:prstGeom>
          <a:solidFill>
            <a:srgbClr val="43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3502152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Key points to 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904487"/>
            <a:ext cx="292607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update(): receives new weather values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WeatherStation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Concrete Subject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5232202" cy="52475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import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java.util.ArrayList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;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import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java.util.List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;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class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WeatherStation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 implements Subject {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private List&lt;Observer&gt; observers = new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ArrayList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&lt;&gt;();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private float temperature;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private float humidity;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@Override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public void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registerObserver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(Observer o) {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observers.add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(o);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@Override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public void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removeObserver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(Observer o) {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observers.remove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(o);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@Override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public void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notifyObservers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() {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    for (Observer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observer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 : observers) {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       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observer.update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(temperature, humidity);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    }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endParaRPr sz="11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public void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setMeasurements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(float temperature, float humidity) {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this.temperature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 = temperature;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this.humidity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 = humidity;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1100" dirty="0" err="1">
                <a:solidFill>
                  <a:srgbClr val="FFFFFF"/>
                </a:solidFill>
                <a:latin typeface="Consolas"/>
              </a:rPr>
              <a:t>notifyObservers</a:t>
            </a:r>
            <a:r>
              <a:rPr sz="1100" dirty="0">
                <a:solidFill>
                  <a:srgbClr val="FFFFFF"/>
                </a:solidFill>
                <a:latin typeface="Consolas"/>
              </a:rPr>
              <a:t>();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  <a:defRPr sz="810">
                <a:solidFill>
                  <a:srgbClr val="FFFFFF"/>
                </a:solidFill>
                <a:latin typeface="Consolas"/>
              </a:defRPr>
            </a:pPr>
            <a:r>
              <a:rPr sz="1100" dirty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188720"/>
            <a:ext cx="3337560" cy="18288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75320" y="1188720"/>
            <a:ext cx="73152" cy="1828800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353312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What this class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755648"/>
            <a:ext cx="292607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This class is the concrete subject. It stores temperature and humidity, keeps a list of observers, and notifies them whenever measurements change.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337560"/>
            <a:ext cx="3337560" cy="19659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3337560"/>
            <a:ext cx="73152" cy="1965960"/>
          </a:xfrm>
          <a:prstGeom prst="rect">
            <a:avLst/>
          </a:prstGeom>
          <a:solidFill>
            <a:srgbClr val="43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3502152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Key points to 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904487"/>
            <a:ext cx="292607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observers: stores subscribers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setMeasurements(): changes state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notifyObservers(): broadcasts state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14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PhoneDisplay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Concrete Observer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691" y="1389888"/>
            <a:ext cx="7720861" cy="36994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class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PhoneDisplay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implements Observer {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    private float temperature;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    private float humidity;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sz="13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    @Override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    public void update(float temperature, float humidity) {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this.temperature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= temperature;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this.humidity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 = humidity;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        display();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sz="13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    public void display() {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sz="1300" dirty="0" err="1">
                <a:solidFill>
                  <a:srgbClr val="FFFFFF"/>
                </a:solidFill>
                <a:latin typeface="Consolas"/>
              </a:rPr>
              <a:t>System.out.println</a:t>
            </a:r>
            <a:r>
              <a:rPr sz="1300" dirty="0">
                <a:solidFill>
                  <a:srgbClr val="FFFFFF"/>
                </a:solidFill>
                <a:latin typeface="Consolas"/>
              </a:rPr>
              <a:t>("Phone display updated -&gt; Temperature: " + temperature + "°C | Humidity: " + humidity + "%");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sz="1300" dirty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80159" y="1195786"/>
            <a:ext cx="2774373" cy="1883664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61871" y="1188720"/>
            <a:ext cx="73152" cy="1828800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97290" y="1322971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dirty="0">
                <a:solidFill>
                  <a:srgbClr val="0E1C2F"/>
                </a:solidFill>
                <a:latin typeface="Aptos"/>
              </a:rPr>
              <a:t>What this class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6735" y="1835658"/>
            <a:ext cx="2737797" cy="4985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dirty="0"/>
              <a:t>This class is a concrete observer. It receives both temperature and humidity, stores them locally, and prints them for the user.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216735" y="3337560"/>
            <a:ext cx="2774373" cy="19659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143583" y="3337560"/>
            <a:ext cx="73152" cy="1965960"/>
          </a:xfrm>
          <a:prstGeom prst="rect">
            <a:avLst/>
          </a:prstGeom>
          <a:solidFill>
            <a:srgbClr val="43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497290" y="3405601"/>
            <a:ext cx="2024149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 dirty="0">
                <a:solidFill>
                  <a:srgbClr val="0E1C2F"/>
                </a:solidFill>
                <a:latin typeface="Aptos"/>
              </a:rPr>
              <a:t>Key points to 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7291" y="3904487"/>
            <a:ext cx="1932708" cy="37087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dirty="0"/>
              <a:t>update(): receives values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rPr dirty="0"/>
              <a:t>display(): prints phone message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TVDisplay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Concrete Observer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325880"/>
            <a:ext cx="7232749" cy="29915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  <a:latin typeface="Consolas"/>
              </a:rPr>
              <a:t>class </a:t>
            </a:r>
            <a:r>
              <a:rPr dirty="0" err="1">
                <a:solidFill>
                  <a:srgbClr val="FFFFFF"/>
                </a:solidFill>
                <a:latin typeface="Consolas"/>
              </a:rPr>
              <a:t>TVDisplay</a:t>
            </a:r>
            <a:r>
              <a:rPr dirty="0">
                <a:solidFill>
                  <a:srgbClr val="FFFFFF"/>
                </a:solidFill>
                <a:latin typeface="Consolas"/>
              </a:rPr>
              <a:t> implements Observer {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  <a:latin typeface="Consolas"/>
              </a:rPr>
              <a:t>    private float temperature;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  <a:latin typeface="Consolas"/>
              </a:rPr>
              <a:t>    @Override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  <a:latin typeface="Consolas"/>
              </a:rPr>
              <a:t>    public void update(float temperature, float humidity) {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  <a:latin typeface="Consolas"/>
              </a:rPr>
              <a:t>        </a:t>
            </a:r>
            <a:r>
              <a:rPr dirty="0" err="1">
                <a:solidFill>
                  <a:srgbClr val="FFFFFF"/>
                </a:solidFill>
                <a:latin typeface="Consolas"/>
              </a:rPr>
              <a:t>this.temperature</a:t>
            </a:r>
            <a:r>
              <a:rPr dirty="0">
                <a:solidFill>
                  <a:srgbClr val="FFFFFF"/>
                </a:solidFill>
                <a:latin typeface="Consolas"/>
              </a:rPr>
              <a:t> = temperature;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  <a:latin typeface="Consolas"/>
              </a:rPr>
              <a:t>        display();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endParaRPr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  <a:latin typeface="Consolas"/>
              </a:rPr>
              <a:t>    public void display() {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  <a:latin typeface="Consolas"/>
              </a:rPr>
              <a:t>        </a:t>
            </a:r>
            <a:r>
              <a:rPr dirty="0" err="1">
                <a:solidFill>
                  <a:srgbClr val="FFFFFF"/>
                </a:solidFill>
                <a:latin typeface="Consolas"/>
              </a:rPr>
              <a:t>System.out.println</a:t>
            </a:r>
            <a:r>
              <a:rPr dirty="0">
                <a:solidFill>
                  <a:srgbClr val="FFFFFF"/>
                </a:solidFill>
                <a:latin typeface="Consolas"/>
              </a:rPr>
              <a:t>("TV weather report -&gt; Current temperature: " + temperature + "°C");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  <a:defRPr sz="1080">
                <a:solidFill>
                  <a:srgbClr val="FFFFFF"/>
                </a:solidFill>
                <a:latin typeface="Consolas"/>
              </a:defRPr>
            </a:pPr>
            <a:r>
              <a:rPr dirty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188720"/>
            <a:ext cx="3337560" cy="18288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75320" y="1188720"/>
            <a:ext cx="73152" cy="1828800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353312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What this class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755648"/>
            <a:ext cx="292607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This class is another concrete observer. It receives the update, but only uses temperature because TV output does not need humidity.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337560"/>
            <a:ext cx="3337560" cy="19659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3337560"/>
            <a:ext cx="73152" cy="1965960"/>
          </a:xfrm>
          <a:prstGeom prst="rect">
            <a:avLst/>
          </a:prstGeom>
          <a:solidFill>
            <a:srgbClr val="43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3502152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Key points to 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904487"/>
            <a:ext cx="292607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update(): stores temperature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display(): prints TV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C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241280" y="-731520"/>
            <a:ext cx="3291840" cy="3291840"/>
          </a:xfrm>
          <a:prstGeom prst="ellipse">
            <a:avLst/>
          </a:prstGeom>
          <a:solidFill>
            <a:srgbClr val="183B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47472"/>
            <a:ext cx="987552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3000" b="1">
                <a:solidFill>
                  <a:srgbClr val="FAFCFF"/>
                </a:solidFill>
                <a:latin typeface="Aptos"/>
              </a:rPr>
              <a:t>Main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68680"/>
            <a:ext cx="950976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200" b="0">
                <a:solidFill>
                  <a:srgbClr val="D5DEEB"/>
                </a:solidFill>
                <a:latin typeface="Aptos"/>
              </a:rPr>
              <a:t>Program Runner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8" y="1202020"/>
            <a:ext cx="7264809" cy="42657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endParaRPr lang="ar-JO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public class Main {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public static void main(String[]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args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) {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WeatherStation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weatherStation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 = new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WeatherStation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endParaRPr lang="en-US" sz="10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PhoneDisplay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phoneApp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 = new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PhoneDisplay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TVDisplay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livingRoomTV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 = new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TVDisplay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endParaRPr lang="en-US" sz="10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System.out.println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("--- System Simulation: Registering displays with the weather station ---");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endParaRPr lang="en-US" sz="10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weatherStation.registerObserver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phoneApp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weatherStation.registerObserver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livingRoomTV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endParaRPr lang="en-US" sz="10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System.out.println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("\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nFirst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 station update:");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weatherStation.setMeasurements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(28.5f, 65.0f);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endParaRPr lang="en-US" sz="10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System.out.println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("\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nSecond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 station update:");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weatherStation.setMeasurements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(22.1f, 85.3f);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endParaRPr lang="en-US" sz="10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System.out.println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("\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nAction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: Turning off the TV display and removing its subscription...");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weatherStation.removeObserver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livingRoomTV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endParaRPr lang="en-US" sz="1000" dirty="0">
              <a:solidFill>
                <a:srgbClr val="FFFFFF"/>
              </a:solidFill>
              <a:latin typeface="Consolas"/>
            </a:endParaRP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System.out.println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("\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nThird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 station update:");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    </a:t>
            </a:r>
            <a:r>
              <a:rPr lang="en-US" sz="1000" dirty="0" err="1">
                <a:solidFill>
                  <a:srgbClr val="FFFFFF"/>
                </a:solidFill>
                <a:latin typeface="Consolas"/>
              </a:rPr>
              <a:t>weatherStation.setMeasurements</a:t>
            </a:r>
            <a:r>
              <a:rPr lang="en-US" sz="1000" dirty="0">
                <a:solidFill>
                  <a:srgbClr val="FFFFFF"/>
                </a:solidFill>
                <a:latin typeface="Consolas"/>
              </a:rPr>
              <a:t>(25.0f, 50.0f);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  <a:defRPr sz="680">
                <a:solidFill>
                  <a:srgbClr val="FFFFFF"/>
                </a:solidFill>
                <a:latin typeface="Consolas"/>
              </a:defRPr>
            </a:pPr>
            <a:r>
              <a:rPr lang="en-US" sz="1000" dirty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75320" y="1188720"/>
            <a:ext cx="3337560" cy="182880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75320" y="1188720"/>
            <a:ext cx="73152" cy="1828800"/>
          </a:xfrm>
          <a:prstGeom prst="rect">
            <a:avLst/>
          </a:prstGeom>
          <a:solidFill>
            <a:srgbClr val="00B0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03920" y="1353312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What this class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1755648"/>
            <a:ext cx="2926079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This class runs the simulation. It creates the station and displays, registers observers, changes measurements, and removes one observer to prove the pattern 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3337560"/>
            <a:ext cx="3337560" cy="1965960"/>
          </a:xfrm>
          <a:prstGeom prst="roundRect">
            <a:avLst/>
          </a:prstGeom>
          <a:solidFill>
            <a:srgbClr val="FAFCFF"/>
          </a:solidFill>
          <a:ln w="12700">
            <a:solidFill>
              <a:srgbClr val="E0E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75320" y="3337560"/>
            <a:ext cx="73152" cy="1965960"/>
          </a:xfrm>
          <a:prstGeom prst="rect">
            <a:avLst/>
          </a:prstGeom>
          <a:solidFill>
            <a:srgbClr val="43D7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03920" y="3502152"/>
            <a:ext cx="301752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/>
            <a:r>
              <a:rPr sz="1600" b="1">
                <a:solidFill>
                  <a:srgbClr val="0E1C2F"/>
                </a:solidFill>
                <a:latin typeface="Aptos"/>
              </a:rPr>
              <a:t>Key points to 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904487"/>
            <a:ext cx="2926079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Creates objects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Registers displays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Changes measurements</a:t>
            </a:r>
          </a:p>
          <a:p>
            <a:pPr>
              <a:spcAft>
                <a:spcPts val="300"/>
              </a:spcAft>
              <a:defRPr sz="1080">
                <a:solidFill>
                  <a:srgbClr val="1F2937"/>
                </a:solidFill>
                <a:latin typeface="Aptos"/>
              </a:defRPr>
            </a:pPr>
            <a:r>
              <a:t>Removes TV observer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327648"/>
            <a:ext cx="457200" cy="228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r"/>
            <a:r>
              <a:rPr sz="900" b="0">
                <a:solidFill>
                  <a:srgbClr val="9BACBE"/>
                </a:solidFill>
                <a:latin typeface="Aptos"/>
              </a:rPr>
              <a:t>17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82512"/>
            <a:ext cx="9966960" cy="9144"/>
          </a:xfrm>
          <a:prstGeom prst="rect">
            <a:avLst/>
          </a:prstGeom>
          <a:solidFill>
            <a:srgbClr val="37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1400</Words>
  <Application>Microsoft Office PowerPoint</Application>
  <PresentationFormat>Widescreen</PresentationFormat>
  <Paragraphs>284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Weather Monitoring System - Observer Pattern Project</dc:title>
  <dc:subject>Observer Pattern Java Project Presentation</dc:subject>
  <dc:creator>ChatGPT</dc:creator>
  <cp:keywords/>
  <dc:description>generated using python-pptx</dc:description>
  <cp:lastModifiedBy>اشرف عاطف سليمان العيد</cp:lastModifiedBy>
  <cp:revision>3</cp:revision>
  <dcterms:created xsi:type="dcterms:W3CDTF">2013-01-27T09:14:16Z</dcterms:created>
  <dcterms:modified xsi:type="dcterms:W3CDTF">2026-05-20T17:29:21Z</dcterms:modified>
  <cp:category/>
</cp:coreProperties>
</file>